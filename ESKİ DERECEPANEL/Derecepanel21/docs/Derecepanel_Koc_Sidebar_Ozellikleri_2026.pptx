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731520"/>
            <a:ext cx="3840480" cy="3840480"/>
          </a:xfrm>
          <a:prstGeom prst="ellipse">
            <a:avLst/>
          </a:prstGeom>
          <a:solidFill>
            <a:srgbClr val="E8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572000"/>
            <a:ext cx="3474720" cy="3474720"/>
          </a:xfrm>
          <a:prstGeom prst="ellipse">
            <a:avLst/>
          </a:prstGeom>
          <a:solidFill>
            <a:srgbClr val="E8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4389120"/>
            <a:ext cx="2743200" cy="2743200"/>
          </a:xfrm>
          <a:prstGeom prst="ellipse">
            <a:avLst/>
          </a:prstGeom>
          <a:solidFill>
            <a:srgbClr val="E8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26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D1F3D"/>
                </a:solidFill>
                <a:latin typeface="Calibri"/>
              </a:defRPr>
            </a:pPr>
            <a:r>
              <a:t>Derecepanel</a:t>
            </a:r>
          </a:p>
          <a:p>
            <a:pPr>
              <a:spcBef>
                <a:spcPts val="800"/>
              </a:spcBef>
              <a:defRPr sz="2200">
                <a:solidFill>
                  <a:srgbClr val="5C5368"/>
                </a:solidFill>
              </a:defRPr>
            </a:pPr>
            <a:r>
              <a:t>Koç paneli — sidebar modülleri</a:t>
            </a:r>
          </a:p>
          <a:p>
            <a:pPr>
              <a:spcBef>
                <a:spcPts val="1600"/>
              </a:spcBef>
              <a:defRPr sz="1400">
                <a:solidFill>
                  <a:srgbClr val="9B7EC8"/>
                </a:solidFill>
              </a:defRPr>
            </a:pPr>
            <a:r>
              <a:t>Yatırımcı sunumu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731520"/>
            <a:ext cx="3840480" cy="3840480"/>
          </a:xfrm>
          <a:prstGeom prst="ellipse">
            <a:avLst/>
          </a:prstGeom>
          <a:solidFill>
            <a:srgbClr val="E8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572000"/>
            <a:ext cx="3474720" cy="3474720"/>
          </a:xfrm>
          <a:prstGeom prst="ellipse">
            <a:avLst/>
          </a:prstGeom>
          <a:solidFill>
            <a:srgbClr val="E8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4389120"/>
            <a:ext cx="2743200" cy="2743200"/>
          </a:xfrm>
          <a:prstGeom prst="ellipse">
            <a:avLst/>
          </a:prstGeom>
          <a:solidFill>
            <a:srgbClr val="E8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26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2926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9B7EC8"/>
                </a:solidFill>
                <a:latin typeface="Calibri"/>
              </a:defRPr>
            </a:pPr>
            <a:r>
              <a:t>05A  KOÇ PANELİ — ÇEKİRDEK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530352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2800" b="1">
                <a:solidFill>
                  <a:srgbClr val="2D1F3D"/>
                </a:solidFill>
                <a:latin typeface="Calibri"/>
              </a:defRPr>
            </a:pPr>
            <a:r>
              <a:t>Kurum ve Koç İçin Operasyonel Komuta Katmanı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1261872"/>
            <a:ext cx="3090672" cy="5138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C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" y="1261872"/>
            <a:ext cx="3090672" cy="402336"/>
          </a:xfrm>
          <a:prstGeom prst="rect">
            <a:avLst/>
          </a:prstGeom>
          <a:solidFill>
            <a:srgbClr val="5B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261872"/>
            <a:ext cx="3090672" cy="402336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📊 01  Dashboard &amp; Öğrencilerim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664208"/>
            <a:ext cx="3090672" cy="4736592"/>
          </a:xfrm>
          <a:prstGeom prst="rect">
            <a:avLst/>
          </a:prstGeom>
          <a:noFill/>
        </p:spPr>
        <p:txBody>
          <a:bodyPr wrap="square" anchor="t" tIns="73152" bIns="73152">
            <a:spAutoFit/>
          </a:bodyPr>
          <a:lstStyle/>
          <a:p>
            <a:pPr>
              <a:lnSpc>
                <a:spcPct val="115000"/>
              </a:lnSpc>
              <a:defRPr sz="1000">
                <a:solidFill>
                  <a:srgbClr val="332C46"/>
                </a:solidFill>
                <a:latin typeface="Calibri"/>
              </a:defRPr>
            </a:pPr>
            <a:r>
              <a:t>Dashboard: YKS geri sayımı, özet kartlar ve günlük giriş noktası; koçun tüm modüllere dağılan işi tek bakışta toparlaması.</a:t>
            </a:r>
            <a:br/>
            <a:br/>
            <a:r>
              <a:t>Öğrencilerim: Atanmış öğrenci portföyü, profil ve takip; panel genelinde filtre ve arama için merkezi öğrenci verisi.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58768" y="1261872"/>
            <a:ext cx="3814419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C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58768" y="1261872"/>
            <a:ext cx="3814419" cy="402336"/>
          </a:xfrm>
          <a:prstGeom prst="rect">
            <a:avLst/>
          </a:prstGeom>
          <a:solidFill>
            <a:srgbClr val="5B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58768" y="1261872"/>
            <a:ext cx="3814419" cy="402336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💬 02  Görüşme Odası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1664208"/>
            <a:ext cx="3814419" cy="1225296"/>
          </a:xfrm>
          <a:prstGeom prst="rect">
            <a:avLst/>
          </a:prstGeom>
          <a:noFill/>
        </p:spPr>
        <p:txBody>
          <a:bodyPr wrap="square" anchor="t" tIns="73152" bIns="73152">
            <a:spAutoFit/>
          </a:bodyPr>
          <a:lstStyle/>
          <a:p>
            <a:pPr>
              <a:lnSpc>
                <a:spcPct val="115000"/>
              </a:lnSpc>
              <a:defRPr sz="950">
                <a:solidFill>
                  <a:srgbClr val="332C46"/>
                </a:solidFill>
                <a:latin typeface="Calibri"/>
              </a:defRPr>
            </a:pPr>
            <a:r>
              <a:t>Yeni Görüşme ile not ve özet kaydı; Görüşme Arşivi ile kurumsal hafıza ve denetlenebilir koçluk döngüsü.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1787" y="1261872"/>
            <a:ext cx="3814419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C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01787" y="1261872"/>
            <a:ext cx="3814419" cy="402336"/>
          </a:xfrm>
          <a:prstGeom prst="rect">
            <a:avLst/>
          </a:prstGeom>
          <a:solidFill>
            <a:srgbClr val="5B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1787" y="1261872"/>
            <a:ext cx="3814419" cy="402336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👥 03  Koçlar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1787" y="1664208"/>
            <a:ext cx="3814419" cy="1225296"/>
          </a:xfrm>
          <a:prstGeom prst="rect">
            <a:avLst/>
          </a:prstGeom>
          <a:noFill/>
        </p:spPr>
        <p:txBody>
          <a:bodyPr wrap="square" anchor="t" tIns="73152" bIns="73152">
            <a:spAutoFit/>
          </a:bodyPr>
          <a:lstStyle/>
          <a:p>
            <a:pPr>
              <a:lnSpc>
                <a:spcPct val="115000"/>
              </a:lnSpc>
              <a:defRPr sz="950">
                <a:solidFill>
                  <a:srgbClr val="332C46"/>
                </a:solidFill>
                <a:latin typeface="Calibri"/>
              </a:defRPr>
            </a:pPr>
            <a:r>
              <a:t>Kurum içi kadro: ekleme, düzenleme, arama ve detay; çok koçlu yapıda kapasite ve sorumluluk görünürlüğü.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58768" y="3017520"/>
            <a:ext cx="3814419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C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58768" y="3017520"/>
            <a:ext cx="3814419" cy="402336"/>
          </a:xfrm>
          <a:prstGeom prst="rect">
            <a:avLst/>
          </a:prstGeom>
          <a:solidFill>
            <a:srgbClr val="5B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58768" y="3017520"/>
            <a:ext cx="3814419" cy="402336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📅 04  Randevular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58768" y="3419856"/>
            <a:ext cx="3814419" cy="1225296"/>
          </a:xfrm>
          <a:prstGeom prst="rect">
            <a:avLst/>
          </a:prstGeom>
          <a:noFill/>
        </p:spPr>
        <p:txBody>
          <a:bodyPr wrap="square" anchor="t" tIns="73152" bIns="73152">
            <a:spAutoFit/>
          </a:bodyPr>
          <a:lstStyle/>
          <a:p>
            <a:pPr>
              <a:lnSpc>
                <a:spcPct val="115000"/>
              </a:lnSpc>
              <a:defRPr sz="950">
                <a:solidFill>
                  <a:srgbClr val="332C46"/>
                </a:solidFill>
                <a:latin typeface="Calibri"/>
              </a:defRPr>
            </a:pPr>
            <a:r>
              <a:t>Öğrenci–koç ve kurum içi zaman planı; operasyonel koordinasyonu panel içinde tutar.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01787" y="3017520"/>
            <a:ext cx="3814419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C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01787" y="3017520"/>
            <a:ext cx="3814419" cy="402336"/>
          </a:xfrm>
          <a:prstGeom prst="rect">
            <a:avLst/>
          </a:prstGeom>
          <a:solidFill>
            <a:srgbClr val="5B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1787" y="3017520"/>
            <a:ext cx="3814419" cy="402336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📣 05  Pazarlama Asistanı (BETA)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1787" y="3419856"/>
            <a:ext cx="3814419" cy="1225296"/>
          </a:xfrm>
          <a:prstGeom prst="rect">
            <a:avLst/>
          </a:prstGeom>
          <a:noFill/>
        </p:spPr>
        <p:txBody>
          <a:bodyPr wrap="square" anchor="t" tIns="73152" bIns="73152">
            <a:spAutoFit/>
          </a:bodyPr>
          <a:lstStyle/>
          <a:p>
            <a:pPr>
              <a:lnSpc>
                <a:spcPct val="115000"/>
              </a:lnSpc>
              <a:defRPr sz="950">
                <a:solidFill>
                  <a:srgbClr val="332C46"/>
                </a:solidFill>
                <a:latin typeface="Calibri"/>
              </a:defRPr>
            </a:pPr>
            <a:r>
              <a:t>Kampanya ve iletişim metni üretimine yakın asistan; erken aşamada CAC ve mesaj tutarlılığı deneyi.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58768" y="4773168"/>
            <a:ext cx="3814419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C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58768" y="4773168"/>
            <a:ext cx="3814419" cy="402336"/>
          </a:xfrm>
          <a:prstGeom prst="rect">
            <a:avLst/>
          </a:prstGeom>
          <a:solidFill>
            <a:srgbClr val="5B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58768" y="4773168"/>
            <a:ext cx="3814419" cy="402336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🎓 06  YKS Simülasyon (özet)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58768" y="5175504"/>
            <a:ext cx="3814419" cy="1225296"/>
          </a:xfrm>
          <a:prstGeom prst="rect">
            <a:avLst/>
          </a:prstGeom>
          <a:noFill/>
        </p:spPr>
        <p:txBody>
          <a:bodyPr wrap="square" anchor="t" tIns="73152" bIns="73152">
            <a:spAutoFit/>
          </a:bodyPr>
          <a:lstStyle/>
          <a:p>
            <a:pPr>
              <a:lnSpc>
                <a:spcPct val="115000"/>
              </a:lnSpc>
              <a:defRPr sz="950">
                <a:solidFill>
                  <a:srgbClr val="332C46"/>
                </a:solidFill>
                <a:latin typeface="Calibri"/>
              </a:defRPr>
            </a:pPr>
            <a:r>
              <a:t>Tercih Sihirbazı, YKS Konuları, Net Sihirbazı, Puan Hesaplama: hedef ve sınav matematiğini tek çatıda.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01787" y="4773168"/>
            <a:ext cx="3814419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C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01787" y="4773168"/>
            <a:ext cx="3814419" cy="402336"/>
          </a:xfrm>
          <a:prstGeom prst="rect">
            <a:avLst/>
          </a:prstGeom>
          <a:solidFill>
            <a:srgbClr val="5B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1787" y="4773168"/>
            <a:ext cx="3814419" cy="402336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📝 07  Denemeler (özet)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1787" y="5175504"/>
            <a:ext cx="3814419" cy="1225296"/>
          </a:xfrm>
          <a:prstGeom prst="rect">
            <a:avLst/>
          </a:prstGeom>
          <a:noFill/>
        </p:spPr>
        <p:txBody>
          <a:bodyPr wrap="square" anchor="t" tIns="73152" bIns="73152">
            <a:spAutoFit/>
          </a:bodyPr>
          <a:lstStyle/>
          <a:p>
            <a:pPr>
              <a:lnSpc>
                <a:spcPct val="115000"/>
              </a:lnSpc>
              <a:defRPr sz="950">
                <a:solidFill>
                  <a:srgbClr val="332C46"/>
                </a:solidFill>
                <a:latin typeface="Calibri"/>
              </a:defRPr>
            </a:pPr>
            <a:r>
              <a:t>Sonuçtan optiğe kadar ölçüm zinciri; ayrıntılar 05B slaytında.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731520"/>
            <a:ext cx="3840480" cy="3840480"/>
          </a:xfrm>
          <a:prstGeom prst="ellipse">
            <a:avLst/>
          </a:prstGeom>
          <a:solidFill>
            <a:srgbClr val="E8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572000"/>
            <a:ext cx="3474720" cy="3474720"/>
          </a:xfrm>
          <a:prstGeom prst="ellipse">
            <a:avLst/>
          </a:prstGeom>
          <a:solidFill>
            <a:srgbClr val="E8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4389120"/>
            <a:ext cx="2743200" cy="2743200"/>
          </a:xfrm>
          <a:prstGeom prst="ellipse">
            <a:avLst/>
          </a:prstGeom>
          <a:solidFill>
            <a:srgbClr val="E8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26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2926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9B7EC8"/>
                </a:solidFill>
                <a:latin typeface="Calibri"/>
              </a:defRPr>
            </a:pPr>
            <a:r>
              <a:t>05B  YKS &amp; DENEME OPERASYONU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530352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2800" b="1">
                <a:solidFill>
                  <a:srgbClr val="2D1F3D"/>
                </a:solidFill>
                <a:latin typeface="Calibri"/>
              </a:defRPr>
            </a:pPr>
            <a:r>
              <a:t>Ölçüm ve Sınav Ekonomisini Ürün İçinde Kapatma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1261872"/>
            <a:ext cx="3090672" cy="5138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C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" y="1261872"/>
            <a:ext cx="3090672" cy="402336"/>
          </a:xfrm>
          <a:prstGeom prst="rect">
            <a:avLst/>
          </a:prstGeom>
          <a:solidFill>
            <a:srgbClr val="6B4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261872"/>
            <a:ext cx="3090672" cy="402336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🎯 08  YKS Simülasyon (alt menü)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664208"/>
            <a:ext cx="3090672" cy="4736592"/>
          </a:xfrm>
          <a:prstGeom prst="rect">
            <a:avLst/>
          </a:prstGeom>
          <a:noFill/>
        </p:spPr>
        <p:txBody>
          <a:bodyPr wrap="square" anchor="t" tIns="73152" bIns="73152">
            <a:spAutoFit/>
          </a:bodyPr>
          <a:lstStyle/>
          <a:p>
            <a:pPr>
              <a:lnSpc>
                <a:spcPct val="115000"/>
              </a:lnSpc>
              <a:defRPr sz="1000">
                <a:solidFill>
                  <a:srgbClr val="332C46"/>
                </a:solidFill>
                <a:latin typeface="Calibri"/>
              </a:defRPr>
            </a:pPr>
            <a:r>
              <a:t>• Tercih Sihirbazı: puan, bölge ve hedeflere göre tercih ve senaryo desteği.</a:t>
            </a:r>
            <a:br/>
            <a:r>
              <a:t>• YKS Konuları: müfredat ve konu haritası; planlama ile hizalı referans.</a:t>
            </a:r>
            <a:br/>
            <a:r>
              <a:t>• Net Sihirbazı: hedef net bandı ve motivasyon; yol haritası hissi.</a:t>
            </a:r>
            <a:br/>
            <a:r>
              <a:t>• Puan Hesaplama: güncel ÖSYM parametreleriyle uyumlu hesap mantığı (takvim güncellenince ürün güncellenir).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58768" y="1261872"/>
            <a:ext cx="3814419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C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58768" y="1261872"/>
            <a:ext cx="3814419" cy="402336"/>
          </a:xfrm>
          <a:prstGeom prst="rect">
            <a:avLst/>
          </a:prstGeom>
          <a:solidFill>
            <a:srgbClr val="5B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58768" y="1261872"/>
            <a:ext cx="3814419" cy="402336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📋 09  Sonuç Merkezi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1664208"/>
            <a:ext cx="3814419" cy="1225296"/>
          </a:xfrm>
          <a:prstGeom prst="rect">
            <a:avLst/>
          </a:prstGeom>
          <a:noFill/>
        </p:spPr>
        <p:txBody>
          <a:bodyPr wrap="square" anchor="t" tIns="73152" bIns="73152">
            <a:spAutoFit/>
          </a:bodyPr>
          <a:lstStyle/>
          <a:p>
            <a:pPr>
              <a:lnSpc>
                <a:spcPct val="115000"/>
              </a:lnSpc>
              <a:defRPr sz="950">
                <a:solidFill>
                  <a:srgbClr val="332C46"/>
                </a:solidFill>
                <a:latin typeface="Calibri"/>
              </a:defRPr>
            </a:pPr>
            <a:r>
              <a:t>Deneme sonuçlarının toplandığı ve yönetildiği merkez ekran; operasyonun kalbi.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1787" y="1261872"/>
            <a:ext cx="3814419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C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01787" y="1261872"/>
            <a:ext cx="3814419" cy="402336"/>
          </a:xfrm>
          <a:prstGeom prst="rect">
            <a:avLst/>
          </a:prstGeom>
          <a:solidFill>
            <a:srgbClr val="5B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1787" y="1261872"/>
            <a:ext cx="3814419" cy="402336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📈 10  Analiz ve Raporlama (BETA)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1787" y="1664208"/>
            <a:ext cx="3814419" cy="1225296"/>
          </a:xfrm>
          <a:prstGeom prst="rect">
            <a:avLst/>
          </a:prstGeom>
          <a:noFill/>
        </p:spPr>
        <p:txBody>
          <a:bodyPr wrap="square" anchor="t" tIns="73152" bIns="73152">
            <a:spAutoFit/>
          </a:bodyPr>
          <a:lstStyle/>
          <a:p>
            <a:pPr>
              <a:lnSpc>
                <a:spcPct val="115000"/>
              </a:lnSpc>
              <a:defRPr sz="950">
                <a:solidFill>
                  <a:srgbClr val="332C46"/>
                </a:solidFill>
                <a:latin typeface="Calibri"/>
              </a:defRPr>
            </a:pPr>
            <a:r>
              <a:t>Derinlemesine analiz ve rapor; veri ürünü olarak ölçek ve farklılaşma katmanı.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58768" y="3017520"/>
            <a:ext cx="3814419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C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58768" y="3017520"/>
            <a:ext cx="3814419" cy="402336"/>
          </a:xfrm>
          <a:prstGeom prst="rect">
            <a:avLst/>
          </a:prstGeom>
          <a:solidFill>
            <a:srgbClr val="5B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58768" y="3017520"/>
            <a:ext cx="3814419" cy="402336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🌍 11  Global Deneme Takvimi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58768" y="3419856"/>
            <a:ext cx="3814419" cy="1225296"/>
          </a:xfrm>
          <a:prstGeom prst="rect">
            <a:avLst/>
          </a:prstGeom>
          <a:noFill/>
        </p:spPr>
        <p:txBody>
          <a:bodyPr wrap="square" anchor="t" tIns="73152" bIns="73152">
            <a:spAutoFit/>
          </a:bodyPr>
          <a:lstStyle/>
          <a:p>
            <a:pPr>
              <a:lnSpc>
                <a:spcPct val="115000"/>
              </a:lnSpc>
              <a:defRPr sz="950">
                <a:solidFill>
                  <a:srgbClr val="332C46"/>
                </a:solidFill>
                <a:latin typeface="Calibri"/>
              </a:defRPr>
            </a:pPr>
            <a:r>
              <a:t>Yaygın deneme takvimine hizalama; kurum dışı senkron.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01787" y="3017520"/>
            <a:ext cx="3814419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C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01787" y="3017520"/>
            <a:ext cx="3814419" cy="402336"/>
          </a:xfrm>
          <a:prstGeom prst="rect">
            <a:avLst/>
          </a:prstGeom>
          <a:solidFill>
            <a:srgbClr val="5B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1787" y="3017520"/>
            <a:ext cx="3814419" cy="402336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🏢 12  Kurum Deneme Takvimi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1787" y="3419856"/>
            <a:ext cx="3814419" cy="1225296"/>
          </a:xfrm>
          <a:prstGeom prst="rect">
            <a:avLst/>
          </a:prstGeom>
          <a:noFill/>
        </p:spPr>
        <p:txBody>
          <a:bodyPr wrap="square" anchor="t" tIns="73152" bIns="73152">
            <a:spAutoFit/>
          </a:bodyPr>
          <a:lstStyle/>
          <a:p>
            <a:pPr>
              <a:lnSpc>
                <a:spcPct val="115000"/>
              </a:lnSpc>
              <a:defRPr sz="950">
                <a:solidFill>
                  <a:srgbClr val="332C46"/>
                </a:solidFill>
                <a:latin typeface="Calibri"/>
              </a:defRPr>
            </a:pPr>
            <a:r>
              <a:t>Kendi iç sınav ve deneme programının planlanması.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58768" y="4773168"/>
            <a:ext cx="3814419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C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58768" y="4773168"/>
            <a:ext cx="3814419" cy="402336"/>
          </a:xfrm>
          <a:prstGeom prst="rect">
            <a:avLst/>
          </a:prstGeom>
          <a:solidFill>
            <a:srgbClr val="5B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58768" y="4773168"/>
            <a:ext cx="3814419" cy="402336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⬆ 13  Deneme Sonuçları Yükleme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58768" y="5175504"/>
            <a:ext cx="3814419" cy="1225296"/>
          </a:xfrm>
          <a:prstGeom prst="rect">
            <a:avLst/>
          </a:prstGeom>
          <a:noFill/>
        </p:spPr>
        <p:txBody>
          <a:bodyPr wrap="square" anchor="t" tIns="73152" bIns="73152">
            <a:spAutoFit/>
          </a:bodyPr>
          <a:lstStyle/>
          <a:p>
            <a:pPr>
              <a:lnSpc>
                <a:spcPct val="115000"/>
              </a:lnSpc>
              <a:defRPr sz="950">
                <a:solidFill>
                  <a:srgbClr val="332C46"/>
                </a:solidFill>
                <a:latin typeface="Calibri"/>
              </a:defRPr>
            </a:pPr>
            <a:r>
              <a:t>Toplu veya dosya ile sonuç girişi; manuel dağınıklığı azaltır.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01787" y="4773168"/>
            <a:ext cx="3814419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C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01787" y="4773168"/>
            <a:ext cx="3814419" cy="402336"/>
          </a:xfrm>
          <a:prstGeom prst="rect">
            <a:avLst/>
          </a:prstGeom>
          <a:solidFill>
            <a:srgbClr val="5B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1787" y="4773168"/>
            <a:ext cx="3814419" cy="402336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🔍 14  Optik &amp; Okutulan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1787" y="5175504"/>
            <a:ext cx="3814419" cy="1225296"/>
          </a:xfrm>
          <a:prstGeom prst="rect">
            <a:avLst/>
          </a:prstGeom>
          <a:noFill/>
        </p:spPr>
        <p:txBody>
          <a:bodyPr wrap="square" anchor="t" tIns="73152" bIns="73152">
            <a:spAutoFit/>
          </a:bodyPr>
          <a:lstStyle/>
          <a:p>
            <a:pPr>
              <a:lnSpc>
                <a:spcPct val="115000"/>
              </a:lnSpc>
              <a:defRPr sz="950">
                <a:solidFill>
                  <a:srgbClr val="332C46"/>
                </a:solidFill>
                <a:latin typeface="Calibri"/>
              </a:defRPr>
            </a:pPr>
            <a:r>
              <a:t>Optik okuyucu hattı ve okutulan deneme kayıtları; optikten analize köprü.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731520"/>
            <a:ext cx="3840480" cy="3840480"/>
          </a:xfrm>
          <a:prstGeom prst="ellipse">
            <a:avLst/>
          </a:prstGeom>
          <a:solidFill>
            <a:srgbClr val="E8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572000"/>
            <a:ext cx="3474720" cy="3474720"/>
          </a:xfrm>
          <a:prstGeom prst="ellipse">
            <a:avLst/>
          </a:prstGeom>
          <a:solidFill>
            <a:srgbClr val="E8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4389120"/>
            <a:ext cx="2743200" cy="2743200"/>
          </a:xfrm>
          <a:prstGeom prst="ellipse">
            <a:avLst/>
          </a:prstGeom>
          <a:solidFill>
            <a:srgbClr val="E8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26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2926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9B7EC8"/>
                </a:solidFill>
                <a:latin typeface="Calibri"/>
              </a:defRPr>
            </a:pPr>
            <a:r>
              <a:t>05C  PLAN, DUYGU, KAYNAK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530352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2800" b="1">
                <a:solidFill>
                  <a:srgbClr val="2D1F3D"/>
                </a:solidFill>
                <a:latin typeface="Calibri"/>
              </a:defRPr>
            </a:pPr>
            <a:r>
              <a:t>Haftalık Ritim, MR ve İçerik Dağıtımı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1261872"/>
            <a:ext cx="3090672" cy="5138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C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" y="1261872"/>
            <a:ext cx="3090672" cy="402336"/>
          </a:xfrm>
          <a:prstGeom prst="rect">
            <a:avLst/>
          </a:prstGeom>
          <a:solidFill>
            <a:srgbClr val="5B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261872"/>
            <a:ext cx="3090672" cy="402336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📆 15  Haftalık Program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664208"/>
            <a:ext cx="3090672" cy="4736592"/>
          </a:xfrm>
          <a:prstGeom prst="rect">
            <a:avLst/>
          </a:prstGeom>
          <a:noFill/>
        </p:spPr>
        <p:txBody>
          <a:bodyPr wrap="square" anchor="t" tIns="73152" bIns="73152">
            <a:spAutoFit/>
          </a:bodyPr>
          <a:lstStyle/>
          <a:p>
            <a:pPr>
              <a:lnSpc>
                <a:spcPct val="115000"/>
              </a:lnSpc>
              <a:defRPr sz="1000">
                <a:solidFill>
                  <a:srgbClr val="332C46"/>
                </a:solidFill>
                <a:latin typeface="Calibri"/>
              </a:defRPr>
            </a:pPr>
            <a:r>
              <a:t>Haftalık Program Oluşturucu ile etüt/konu/süre tasarımı; Kayıtlı Haftalık Programlar ile şablon ve arşiv; Öğrenciye program gönder ile planın öğrenci paneline düşmesi ve bildirimle kapanan döngü.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58768" y="1261872"/>
            <a:ext cx="3814419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C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58768" y="1261872"/>
            <a:ext cx="3814419" cy="402336"/>
          </a:xfrm>
          <a:prstGeom prst="rect">
            <a:avLst/>
          </a:prstGeom>
          <a:solidFill>
            <a:srgbClr val="5B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58768" y="1261872"/>
            <a:ext cx="3814419" cy="402336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📐 16  Konu MR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1664208"/>
            <a:ext cx="3814419" cy="1225296"/>
          </a:xfrm>
          <a:prstGeom prst="rect">
            <a:avLst/>
          </a:prstGeom>
          <a:noFill/>
        </p:spPr>
        <p:txBody>
          <a:bodyPr wrap="square" anchor="t" tIns="73152" bIns="73152">
            <a:spAutoFit/>
          </a:bodyPr>
          <a:lstStyle/>
          <a:p>
            <a:pPr>
              <a:lnSpc>
                <a:spcPct val="115000"/>
              </a:lnSpc>
              <a:defRPr sz="950">
                <a:solidFill>
                  <a:srgbClr val="332C46"/>
                </a:solidFill>
                <a:latin typeface="Calibri"/>
              </a:defRPr>
            </a:pPr>
            <a:r>
              <a:t>Konu bazlı ruh hâli ve yorgunluk sinyalleri; öğrenme verimliliği için yumuşak veri.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1787" y="1261872"/>
            <a:ext cx="3814419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C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01787" y="1261872"/>
            <a:ext cx="3814419" cy="402336"/>
          </a:xfrm>
          <a:prstGeom prst="rect">
            <a:avLst/>
          </a:prstGeom>
          <a:solidFill>
            <a:srgbClr val="5B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1787" y="1261872"/>
            <a:ext cx="3814419" cy="402336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❓ 17  Soru MR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1787" y="1664208"/>
            <a:ext cx="3814419" cy="1225296"/>
          </a:xfrm>
          <a:prstGeom prst="rect">
            <a:avLst/>
          </a:prstGeom>
          <a:noFill/>
        </p:spPr>
        <p:txBody>
          <a:bodyPr wrap="square" anchor="t" tIns="73152" bIns="73152">
            <a:spAutoFit/>
          </a:bodyPr>
          <a:lstStyle/>
          <a:p>
            <a:pPr>
              <a:lnSpc>
                <a:spcPct val="115000"/>
              </a:lnSpc>
              <a:defRPr sz="950">
                <a:solidFill>
                  <a:srgbClr val="332C46"/>
                </a:solidFill>
                <a:latin typeface="Calibri"/>
              </a:defRPr>
            </a:pPr>
            <a:r>
              <a:t>Soru çözümü anındaki deneyim; mikro geri bildirim.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58768" y="3017520"/>
            <a:ext cx="3814419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C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58768" y="3017520"/>
            <a:ext cx="3814419" cy="402336"/>
          </a:xfrm>
          <a:prstGeom prst="rect">
            <a:avLst/>
          </a:prstGeom>
          <a:solidFill>
            <a:srgbClr val="5B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58768" y="3017520"/>
            <a:ext cx="3814419" cy="402336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📉 18  Deneme MR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58768" y="3419856"/>
            <a:ext cx="3814419" cy="1225296"/>
          </a:xfrm>
          <a:prstGeom prst="rect">
            <a:avLst/>
          </a:prstGeom>
          <a:noFill/>
        </p:spPr>
        <p:txBody>
          <a:bodyPr wrap="square" anchor="t" tIns="73152" bIns="73152">
            <a:spAutoFit/>
          </a:bodyPr>
          <a:lstStyle/>
          <a:p>
            <a:pPr>
              <a:lnSpc>
                <a:spcPct val="115000"/>
              </a:lnSpc>
              <a:defRPr sz="950">
                <a:solidFill>
                  <a:srgbClr val="332C46"/>
                </a:solidFill>
                <a:latin typeface="Calibri"/>
              </a:defRPr>
            </a:pPr>
            <a:r>
              <a:t>Deneme sonrası psiko-duygusal geri bildirim; churn ve moral erken uyarısı.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01787" y="3017520"/>
            <a:ext cx="3814419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C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01787" y="3017520"/>
            <a:ext cx="3814419" cy="402336"/>
          </a:xfrm>
          <a:prstGeom prst="rect">
            <a:avLst/>
          </a:prstGeom>
          <a:solidFill>
            <a:srgbClr val="5B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1787" y="3017520"/>
            <a:ext cx="3814419" cy="402336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📚 19  Kitap Listesi &amp; Kayıt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1787" y="3419856"/>
            <a:ext cx="3814419" cy="1225296"/>
          </a:xfrm>
          <a:prstGeom prst="rect">
            <a:avLst/>
          </a:prstGeom>
          <a:noFill/>
        </p:spPr>
        <p:txBody>
          <a:bodyPr wrap="square" anchor="t" tIns="73152" bIns="73152">
            <a:spAutoFit/>
          </a:bodyPr>
          <a:lstStyle/>
          <a:p>
            <a:pPr>
              <a:lnSpc>
                <a:spcPct val="115000"/>
              </a:lnSpc>
              <a:defRPr sz="950">
                <a:solidFill>
                  <a:srgbClr val="332C46"/>
                </a:solidFill>
                <a:latin typeface="Calibri"/>
              </a:defRPr>
            </a:pPr>
            <a:r>
              <a:t>Kurum kütüphanesi; kapak ve PDF ile tek tık erişim.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58768" y="4773168"/>
            <a:ext cx="3814419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C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58768" y="4773168"/>
            <a:ext cx="3814419" cy="402336"/>
          </a:xfrm>
          <a:prstGeom prst="rect">
            <a:avLst/>
          </a:prstGeom>
          <a:solidFill>
            <a:srgbClr val="5B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58768" y="4773168"/>
            <a:ext cx="3814419" cy="402336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🔗 20  Kaynak Atama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58768" y="5175504"/>
            <a:ext cx="3814419" cy="1225296"/>
          </a:xfrm>
          <a:prstGeom prst="rect">
            <a:avLst/>
          </a:prstGeom>
          <a:noFill/>
        </p:spPr>
        <p:txBody>
          <a:bodyPr wrap="square" anchor="t" tIns="73152" bIns="73152">
            <a:spAutoFit/>
          </a:bodyPr>
          <a:lstStyle/>
          <a:p>
            <a:pPr>
              <a:lnSpc>
                <a:spcPct val="115000"/>
              </a:lnSpc>
              <a:defRPr sz="950">
                <a:solidFill>
                  <a:srgbClr val="332C46"/>
                </a:solidFill>
                <a:latin typeface="Calibri"/>
              </a:defRPr>
            </a:pPr>
            <a:r>
              <a:t>Kitap ve kaynağı öğrenciye atama; içerik operasyonunu merkezileştirir.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01787" y="4773168"/>
            <a:ext cx="3814419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C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01787" y="4773168"/>
            <a:ext cx="3814419" cy="402336"/>
          </a:xfrm>
          <a:prstGeom prst="rect">
            <a:avLst/>
          </a:prstGeom>
          <a:solidFill>
            <a:srgbClr val="5B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1787" y="4773168"/>
            <a:ext cx="3814419" cy="402336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✏ 21  Test Oluşturucu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1787" y="5175504"/>
            <a:ext cx="3814419" cy="1225296"/>
          </a:xfrm>
          <a:prstGeom prst="rect">
            <a:avLst/>
          </a:prstGeom>
          <a:noFill/>
        </p:spPr>
        <p:txBody>
          <a:bodyPr wrap="square" anchor="t" tIns="73152" bIns="73152">
            <a:spAutoFit/>
          </a:bodyPr>
          <a:lstStyle/>
          <a:p>
            <a:pPr>
              <a:lnSpc>
                <a:spcPct val="115000"/>
              </a:lnSpc>
              <a:defRPr sz="950">
                <a:solidFill>
                  <a:srgbClr val="332C46"/>
                </a:solidFill>
                <a:latin typeface="Calibri"/>
              </a:defRPr>
            </a:pPr>
            <a:r>
              <a:t>Kuruma özel test üretimi; ölçüm ve içeriği aynı çatıda birleştirir.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731520"/>
            <a:ext cx="3840480" cy="3840480"/>
          </a:xfrm>
          <a:prstGeom prst="ellipse">
            <a:avLst/>
          </a:prstGeom>
          <a:solidFill>
            <a:srgbClr val="E8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572000"/>
            <a:ext cx="3474720" cy="3474720"/>
          </a:xfrm>
          <a:prstGeom prst="ellipse">
            <a:avLst/>
          </a:prstGeom>
          <a:solidFill>
            <a:srgbClr val="E8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4389120"/>
            <a:ext cx="2743200" cy="2743200"/>
          </a:xfrm>
          <a:prstGeom prst="ellipse">
            <a:avLst/>
          </a:prstGeom>
          <a:solidFill>
            <a:srgbClr val="E8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26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2926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9B7EC8"/>
                </a:solidFill>
                <a:latin typeface="Calibri"/>
              </a:defRPr>
            </a:pPr>
            <a:r>
              <a:t>05D  İÇERİK, REÇETE, TARAMA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530352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2800" b="1">
                <a:solidFill>
                  <a:srgbClr val="2D1F3D"/>
                </a:solidFill>
                <a:latin typeface="Calibri"/>
              </a:defRPr>
            </a:pPr>
            <a:r>
              <a:t>Üretim Hızı ve Hata Döngüsünü Kapatma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1261872"/>
            <a:ext cx="3090672" cy="5138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C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" y="1261872"/>
            <a:ext cx="3090672" cy="402336"/>
          </a:xfrm>
          <a:prstGeom prst="rect">
            <a:avLst/>
          </a:prstGeom>
          <a:solidFill>
            <a:srgbClr val="5B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261872"/>
            <a:ext cx="3090672" cy="402336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🧩 22  Test Maker &amp; Hata Reçetesi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664208"/>
            <a:ext cx="3090672" cy="4736592"/>
          </a:xfrm>
          <a:prstGeom prst="rect">
            <a:avLst/>
          </a:prstGeom>
          <a:noFill/>
        </p:spPr>
        <p:txBody>
          <a:bodyPr wrap="square" anchor="t" tIns="73152" bIns="73152">
            <a:spAutoFit/>
          </a:bodyPr>
          <a:lstStyle/>
          <a:p>
            <a:pPr>
              <a:lnSpc>
                <a:spcPct val="115000"/>
              </a:lnSpc>
              <a:defRPr sz="1000">
                <a:solidFill>
                  <a:srgbClr val="332C46"/>
                </a:solidFill>
                <a:latin typeface="Calibri"/>
              </a:defRPr>
            </a:pPr>
            <a:r>
              <a:t>Otomatik Soru Kırpıcı: PDF/görselden soru görüntüsü ayıklama.</a:t>
            </a:r>
            <a:br/>
            <a:r>
              <a:t>Soru Havuzu: banka ve yeniden kullanım.</a:t>
            </a:r>
            <a:br/>
            <a:br/>
            <a:r>
              <a:t>Hata Reçetesi: Reçete Yaz, Reçete Deposu, Hatalı Soru Havuzu ile hedefli tekrar ve kişiselleştirme.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58768" y="1261872"/>
            <a:ext cx="3814419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C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58768" y="1261872"/>
            <a:ext cx="3814419" cy="402336"/>
          </a:xfrm>
          <a:prstGeom prst="rect">
            <a:avLst/>
          </a:prstGeom>
          <a:solidFill>
            <a:srgbClr val="5B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58768" y="1261872"/>
            <a:ext cx="3814419" cy="402336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✂ 23  Otomatik Soru Kırpıcı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1664208"/>
            <a:ext cx="3814419" cy="1225296"/>
          </a:xfrm>
          <a:prstGeom prst="rect">
            <a:avLst/>
          </a:prstGeom>
          <a:noFill/>
        </p:spPr>
        <p:txBody>
          <a:bodyPr wrap="square" anchor="t" tIns="73152" bIns="73152">
            <a:spAutoFit/>
          </a:bodyPr>
          <a:lstStyle/>
          <a:p>
            <a:pPr>
              <a:lnSpc>
                <a:spcPct val="115000"/>
              </a:lnSpc>
              <a:defRPr sz="950">
                <a:solidFill>
                  <a:srgbClr val="332C46"/>
                </a:solidFill>
                <a:latin typeface="Calibri"/>
              </a:defRPr>
            </a:pPr>
            <a:r>
              <a:t>Operasyon süresini kısaltan kırpma hattı; ölçek için kritik.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1787" y="1261872"/>
            <a:ext cx="3814419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C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01787" y="1261872"/>
            <a:ext cx="3814419" cy="402336"/>
          </a:xfrm>
          <a:prstGeom prst="rect">
            <a:avLst/>
          </a:prstGeom>
          <a:solidFill>
            <a:srgbClr val="5B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1787" y="1261872"/>
            <a:ext cx="3814419" cy="402336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🗂 24  Soru Havuzu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1787" y="1664208"/>
            <a:ext cx="3814419" cy="1225296"/>
          </a:xfrm>
          <a:prstGeom prst="rect">
            <a:avLst/>
          </a:prstGeom>
          <a:noFill/>
        </p:spPr>
        <p:txBody>
          <a:bodyPr wrap="square" anchor="t" tIns="73152" bIns="73152">
            <a:spAutoFit/>
          </a:bodyPr>
          <a:lstStyle/>
          <a:p>
            <a:pPr>
              <a:lnSpc>
                <a:spcPct val="115000"/>
              </a:lnSpc>
              <a:defRPr sz="950">
                <a:solidFill>
                  <a:srgbClr val="332C46"/>
                </a:solidFill>
                <a:latin typeface="Calibri"/>
              </a:defRPr>
            </a:pPr>
            <a:r>
              <a:t>Merkezi soru bankası; Test Maker ile entegre içerik varlığı.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58768" y="3017520"/>
            <a:ext cx="3814419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C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58768" y="3017520"/>
            <a:ext cx="3814419" cy="402336"/>
          </a:xfrm>
          <a:prstGeom prst="rect">
            <a:avLst/>
          </a:prstGeom>
          <a:solidFill>
            <a:srgbClr val="5B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58768" y="3017520"/>
            <a:ext cx="3814419" cy="402336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💊 25  Reçete Yaz / Depo / Havuz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58768" y="3419856"/>
            <a:ext cx="3814419" cy="1225296"/>
          </a:xfrm>
          <a:prstGeom prst="rect">
            <a:avLst/>
          </a:prstGeom>
          <a:noFill/>
        </p:spPr>
        <p:txBody>
          <a:bodyPr wrap="square" anchor="t" tIns="73152" bIns="73152">
            <a:spAutoFit/>
          </a:bodyPr>
          <a:lstStyle/>
          <a:p>
            <a:pPr>
              <a:lnSpc>
                <a:spcPct val="115000"/>
              </a:lnSpc>
              <a:defRPr sz="950">
                <a:solidFill>
                  <a:srgbClr val="332C46"/>
                </a:solidFill>
                <a:latin typeface="Calibri"/>
              </a:defRPr>
            </a:pPr>
            <a:r>
              <a:t>Koç reçetesi yazımı, şablon arşivi ve hatalı soru havuzu — tek kartta özet.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01787" y="3017520"/>
            <a:ext cx="3814419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C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01787" y="3017520"/>
            <a:ext cx="3814419" cy="402336"/>
          </a:xfrm>
          <a:prstGeom prst="rect">
            <a:avLst/>
          </a:prstGeom>
          <a:solidFill>
            <a:srgbClr val="5B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1787" y="3017520"/>
            <a:ext cx="3814419" cy="402336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📑 26  Tarama Analiz &amp; Rapor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1787" y="3419856"/>
            <a:ext cx="3814419" cy="1225296"/>
          </a:xfrm>
          <a:prstGeom prst="rect">
            <a:avLst/>
          </a:prstGeom>
          <a:noFill/>
        </p:spPr>
        <p:txBody>
          <a:bodyPr wrap="square" anchor="t" tIns="73152" bIns="73152">
            <a:spAutoFit/>
          </a:bodyPr>
          <a:lstStyle/>
          <a:p>
            <a:pPr>
              <a:lnSpc>
                <a:spcPct val="115000"/>
              </a:lnSpc>
              <a:defRPr sz="950">
                <a:solidFill>
                  <a:srgbClr val="332C46"/>
                </a:solidFill>
                <a:latin typeface="Calibri"/>
              </a:defRPr>
            </a:pPr>
            <a:r>
              <a:t>Tarama sonuçlarının analizi ve raporlanması.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58768" y="4773168"/>
            <a:ext cx="3814419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C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58768" y="4773168"/>
            <a:ext cx="3814419" cy="402336"/>
          </a:xfrm>
          <a:prstGeom prst="rect">
            <a:avLst/>
          </a:prstGeom>
          <a:solidFill>
            <a:srgbClr val="5B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58768" y="4773168"/>
            <a:ext cx="3814419" cy="402336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➕ 27  Tarama Oluşturma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58768" y="5175504"/>
            <a:ext cx="3814419" cy="1225296"/>
          </a:xfrm>
          <a:prstGeom prst="rect">
            <a:avLst/>
          </a:prstGeom>
          <a:noFill/>
        </p:spPr>
        <p:txBody>
          <a:bodyPr wrap="square" anchor="t" tIns="73152" bIns="73152">
            <a:spAutoFit/>
          </a:bodyPr>
          <a:lstStyle/>
          <a:p>
            <a:pPr>
              <a:lnSpc>
                <a:spcPct val="115000"/>
              </a:lnSpc>
              <a:defRPr sz="950">
                <a:solidFill>
                  <a:srgbClr val="332C46"/>
                </a:solidFill>
                <a:latin typeface="Calibri"/>
              </a:defRPr>
            </a:pPr>
            <a:r>
              <a:t>Yeni tarama tanımı ve süreç başlatma.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01787" y="4773168"/>
            <a:ext cx="3814419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C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01787" y="4773168"/>
            <a:ext cx="3814419" cy="402336"/>
          </a:xfrm>
          <a:prstGeom prst="rect">
            <a:avLst/>
          </a:prstGeom>
          <a:solidFill>
            <a:srgbClr val="5B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1787" y="4773168"/>
            <a:ext cx="3814419" cy="402336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🗄 28  Tarama Deposu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1787" y="5175504"/>
            <a:ext cx="3814419" cy="1225296"/>
          </a:xfrm>
          <a:prstGeom prst="rect">
            <a:avLst/>
          </a:prstGeom>
          <a:noFill/>
        </p:spPr>
        <p:txBody>
          <a:bodyPr wrap="square" anchor="t" tIns="73152" bIns="73152">
            <a:spAutoFit/>
          </a:bodyPr>
          <a:lstStyle/>
          <a:p>
            <a:pPr>
              <a:lnSpc>
                <a:spcPct val="115000"/>
              </a:lnSpc>
              <a:defRPr sz="950">
                <a:solidFill>
                  <a:srgbClr val="332C46"/>
                </a:solidFill>
                <a:latin typeface="Calibri"/>
              </a:defRPr>
            </a:pPr>
            <a:r>
              <a:t>Tarama arşivi ve yeniden kullanım.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731520"/>
            <a:ext cx="3840480" cy="3840480"/>
          </a:xfrm>
          <a:prstGeom prst="ellipse">
            <a:avLst/>
          </a:prstGeom>
          <a:solidFill>
            <a:srgbClr val="E8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572000"/>
            <a:ext cx="3474720" cy="3474720"/>
          </a:xfrm>
          <a:prstGeom prst="ellipse">
            <a:avLst/>
          </a:prstGeom>
          <a:solidFill>
            <a:srgbClr val="E8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4389120"/>
            <a:ext cx="2743200" cy="2743200"/>
          </a:xfrm>
          <a:prstGeom prst="ellipse">
            <a:avLst/>
          </a:prstGeom>
          <a:solidFill>
            <a:srgbClr val="E8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26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2926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9B7EC8"/>
                </a:solidFill>
                <a:latin typeface="Calibri"/>
              </a:defRPr>
            </a:pPr>
            <a:r>
              <a:t>05E  YOL HARİTASI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530352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2800" b="1">
                <a:solidFill>
                  <a:srgbClr val="2D1F3D"/>
                </a:solidFill>
                <a:latin typeface="Calibri"/>
              </a:defRPr>
            </a:pPr>
            <a:r>
              <a:t>Şeffaf Ürün Sınırı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1261872"/>
            <a:ext cx="11240719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C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" y="1261872"/>
            <a:ext cx="11240719" cy="402336"/>
          </a:xfrm>
          <a:prstGeom prst="rect">
            <a:avLst/>
          </a:prstGeom>
          <a:solidFill>
            <a:srgbClr val="5B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261872"/>
            <a:ext cx="11240719" cy="402336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🚀 —  Fasikül Oluşturma &amp; Fasikül Deposu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664208"/>
            <a:ext cx="11240719" cy="1792224"/>
          </a:xfrm>
          <a:prstGeom prst="rect">
            <a:avLst/>
          </a:prstGeom>
          <a:noFill/>
        </p:spPr>
        <p:txBody>
          <a:bodyPr wrap="square" anchor="t" tIns="73152" bIns="73152">
            <a:spAutoFit/>
          </a:bodyPr>
          <a:lstStyle/>
          <a:p>
            <a:pPr>
              <a:lnSpc>
                <a:spcPct val="115000"/>
              </a:lnSpc>
              <a:defRPr sz="1000">
                <a:solidFill>
                  <a:srgbClr val="332C46"/>
                </a:solidFill>
                <a:latin typeface="Calibri"/>
              </a:defRPr>
            </a:pPr>
            <a:r>
              <a:t>Sidebar’da “Yakında” olarak işaretli; yatırımcıya MVP ile tam vizyon arası mesafenin kontrollü anlatımı. Pazarlama Asistanı ve Analiz Merkezi BETA etiketiyle erken erişim modunda.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